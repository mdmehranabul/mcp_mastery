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6.xml" ContentType="application/vnd.openxmlformats-officedocument.presentationml.notesSlide+xml"/>
  <Override PartName="/ppt/charts/chart5.xml" ContentType="application/vnd.openxmlformats-officedocument.drawingml.chart+xml"/>
  <Override PartName="/ppt/notesSlides/notesSlide7.xml" ContentType="application/vnd.openxmlformats-officedocument.presentationml.notesSlide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notesSlides/notesSlide8.xml" ContentType="application/vnd.openxmlformats-officedocument.presentationml.notesSlide+xml"/>
  <Override PartName="/ppt/charts/chart8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4" d="100"/>
          <a:sy n="154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A2744"/>
                </a:solidFill>
                <a:latin typeface="Arial"/>
              </a:defRPr>
            </a:pPr>
            <a:r>
              <a:rPr lang="en-US" sz="1300" b="0" i="0" u="none" strike="noStrike">
                <a:solidFill>
                  <a:srgbClr val="1A2744"/>
                </a:solidFill>
                <a:latin typeface="Arial"/>
              </a:rPr>
              <a:t># Tickets by Issue Type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Tickets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2BD0-D442-9325-706107AF6F1A}"/>
              </c:ext>
            </c:extLst>
          </c:dPt>
          <c:dPt>
            <c:idx val="1"/>
            <c:invertIfNegative val="0"/>
            <c:bubble3D val="0"/>
            <c:spPr>
              <a:solidFill>
                <a:srgbClr val="1A274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2BD0-D442-9325-706107AF6F1A}"/>
              </c:ext>
            </c:extLst>
          </c:dPt>
          <c:dPt>
            <c:idx val="2"/>
            <c:invertIfNegative val="0"/>
            <c:bubble3D val="0"/>
            <c:spPr>
              <a:solidFill>
                <a:srgbClr val="38BDF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2BD0-D442-9325-706107AF6F1A}"/>
              </c:ext>
            </c:extLst>
          </c:dPt>
          <c:dPt>
            <c:idx val="3"/>
            <c:invertIfNegative val="0"/>
            <c:bubble3D val="0"/>
            <c:spPr>
              <a:solidFill>
                <a:srgbClr val="7C3AE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2BD0-D442-9325-706107AF6F1A}"/>
              </c:ext>
            </c:extLst>
          </c:dPt>
          <c:dPt>
            <c:idx val="4"/>
            <c:invertIfNegative val="0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2BD0-D442-9325-706107AF6F1A}"/>
              </c:ext>
            </c:extLst>
          </c:dPt>
          <c:dPt>
            <c:idx val="5"/>
            <c:invertIfNegative val="0"/>
            <c:bubble3D val="0"/>
            <c:spPr>
              <a:solidFill>
                <a:srgbClr val="F0525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2BD0-D442-9325-706107AF6F1A}"/>
              </c:ext>
            </c:extLst>
          </c:dPt>
          <c:dPt>
            <c:idx val="6"/>
            <c:invertIfNegative val="0"/>
            <c:bubble3D val="0"/>
            <c:spPr>
              <a:solidFill>
                <a:srgbClr val="CBD5E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2BD0-D442-9325-706107AF6F1A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F172A"/>
                    </a:solidFill>
                    <a:latin typeface="Arial"/>
                  </a:defRPr>
                </a:pPr>
                <a:endParaRPr lang="en-BH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Data Import</c:v>
                </c:pt>
                <c:pt idx="1">
                  <c:v>Billing Issue</c:v>
                </c:pt>
                <c:pt idx="2">
                  <c:v>Login Issue</c:v>
                </c:pt>
                <c:pt idx="3">
                  <c:v>Feature Req.</c:v>
                </c:pt>
                <c:pt idx="4">
                  <c:v>UI Bug</c:v>
                </c:pt>
                <c:pt idx="5">
                  <c:v>API Issue</c:v>
                </c:pt>
                <c:pt idx="6">
                  <c:v>Report Gen.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11</c:v>
                </c:pt>
                <c:pt idx="1">
                  <c:v>11</c:v>
                </c:pt>
                <c:pt idx="2">
                  <c:v>6</c:v>
                </c:pt>
                <c:pt idx="3">
                  <c:v>6</c:v>
                </c:pt>
                <c:pt idx="4">
                  <c:v>6</c:v>
                </c:pt>
                <c:pt idx="5">
                  <c:v>5</c:v>
                </c:pt>
                <c:pt idx="6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2BD0-D442-9325-706107AF6F1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A2744"/>
                </a:solidFill>
                <a:latin typeface="Arial"/>
              </a:defRPr>
            </a:pPr>
            <a:r>
              <a:rPr lang="en-US" sz="1300" b="0" i="0" u="none" strike="noStrike">
                <a:solidFill>
                  <a:srgbClr val="1A2744"/>
                </a:solidFill>
                <a:latin typeface="Arial"/>
              </a:rPr>
              <a:t>Resolution Rate by Type (%)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Resolution Rate (%)</c:v>
                </c:pt>
              </c:strCache>
            </c:strRef>
          </c:tx>
          <c:spPr>
            <a:solidFill>
              <a:srgbClr val="22C55E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55DF-704C-BDD4-8D854367FEB9}"/>
              </c:ext>
            </c:extLst>
          </c:dPt>
          <c:dPt>
            <c:idx val="1"/>
            <c:invertIfNegative val="0"/>
            <c:bubble3D val="0"/>
            <c:spPr>
              <a:solidFill>
                <a:srgbClr val="0D94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55DF-704C-BDD4-8D854367FEB9}"/>
              </c:ext>
            </c:extLst>
          </c:dPt>
          <c:dPt>
            <c:idx val="2"/>
            <c:invertIfNegative val="0"/>
            <c:bubble3D val="0"/>
            <c:spPr>
              <a:solidFill>
                <a:srgbClr val="14B8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55DF-704C-BDD4-8D854367FEB9}"/>
              </c:ext>
            </c:extLst>
          </c:dPt>
          <c:dPt>
            <c:idx val="3"/>
            <c:invertIfNegative val="0"/>
            <c:bubble3D val="0"/>
            <c:spPr>
              <a:solidFill>
                <a:srgbClr val="38BDF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55DF-704C-BDD4-8D854367FEB9}"/>
              </c:ext>
            </c:extLst>
          </c:dPt>
          <c:dPt>
            <c:idx val="4"/>
            <c:invertIfNegative val="0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55DF-704C-BDD4-8D854367FEB9}"/>
              </c:ext>
            </c:extLst>
          </c:dPt>
          <c:dPt>
            <c:idx val="5"/>
            <c:invertIfNegative val="0"/>
            <c:bubble3D val="0"/>
            <c:spPr>
              <a:solidFill>
                <a:srgbClr val="F0525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55DF-704C-BDD4-8D854367FEB9}"/>
              </c:ext>
            </c:extLst>
          </c:dPt>
          <c:dPt>
            <c:idx val="6"/>
            <c:invertIfNegative val="0"/>
            <c:bubble3D val="0"/>
            <c:spPr>
              <a:solidFill>
                <a:srgbClr val="EF444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55DF-704C-BDD4-8D854367FEB9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F172A"/>
                    </a:solidFill>
                    <a:latin typeface="Arial"/>
                  </a:defRPr>
                </a:pPr>
                <a:endParaRPr lang="en-BH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UI Bug</c:v>
                </c:pt>
                <c:pt idx="1">
                  <c:v>API Issue</c:v>
                </c:pt>
                <c:pt idx="2">
                  <c:v>Data Import</c:v>
                </c:pt>
                <c:pt idx="3">
                  <c:v>Login Issue</c:v>
                </c:pt>
                <c:pt idx="4">
                  <c:v>Billing</c:v>
                </c:pt>
                <c:pt idx="5">
                  <c:v>Feature Req.</c:v>
                </c:pt>
                <c:pt idx="6">
                  <c:v>Report Gen.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66.7</c:v>
                </c:pt>
                <c:pt idx="1">
                  <c:v>60</c:v>
                </c:pt>
                <c:pt idx="2">
                  <c:v>54.5</c:v>
                </c:pt>
                <c:pt idx="3">
                  <c:v>50</c:v>
                </c:pt>
                <c:pt idx="4">
                  <c:v>36.4</c:v>
                </c:pt>
                <c:pt idx="5">
                  <c:v>33.299999999999997</c:v>
                </c:pt>
                <c:pt idx="6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55DF-704C-BDD4-8D854367FEB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A2744"/>
                </a:solidFill>
                <a:latin typeface="Arial"/>
              </a:defRPr>
            </a:pPr>
            <a:r>
              <a:rPr lang="en-US" sz="1300" b="0" i="0" u="none" strike="noStrike">
                <a:solidFill>
                  <a:srgbClr val="1A2744"/>
                </a:solidFill>
                <a:latin typeface="Arial"/>
              </a:rPr>
              <a:t>Ticket Load by Agent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# Tickets</c:v>
                </c:pt>
              </c:strCache>
            </c:strRef>
          </c:tx>
          <c:spPr>
            <a:solidFill>
              <a:srgbClr val="38BDF8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0527-1146-BA6A-29D67EF4642A}"/>
              </c:ext>
            </c:extLst>
          </c:dPt>
          <c:dPt>
            <c:idx val="1"/>
            <c:invertIfNegative val="0"/>
            <c:bubble3D val="0"/>
            <c:spPr>
              <a:solidFill>
                <a:srgbClr val="0D94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0527-1146-BA6A-29D67EF4642A}"/>
              </c:ext>
            </c:extLst>
          </c:dPt>
          <c:dPt>
            <c:idx val="2"/>
            <c:invertIfNegative val="0"/>
            <c:bubble3D val="0"/>
            <c:spPr>
              <a:solidFill>
                <a:srgbClr val="22C55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0527-1146-BA6A-29D67EF4642A}"/>
              </c:ext>
            </c:extLst>
          </c:dPt>
          <c:dPt>
            <c:idx val="3"/>
            <c:invertIfNegative val="0"/>
            <c:bubble3D val="0"/>
            <c:spPr>
              <a:solidFill>
                <a:srgbClr val="F0525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0527-1146-BA6A-29D67EF4642A}"/>
              </c:ext>
            </c:extLst>
          </c:dPt>
          <c:dPt>
            <c:idx val="4"/>
            <c:invertIfNegative val="0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0527-1146-BA6A-29D67EF4642A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F172A"/>
                    </a:solidFill>
                    <a:latin typeface="Arial"/>
                  </a:defRPr>
                </a:pPr>
                <a:endParaRPr lang="en-BH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A001</c:v>
                </c:pt>
                <c:pt idx="1">
                  <c:v>A002</c:v>
                </c:pt>
                <c:pt idx="2">
                  <c:v>A003</c:v>
                </c:pt>
                <c:pt idx="3">
                  <c:v>A004</c:v>
                </c:pt>
                <c:pt idx="4">
                  <c:v>A005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</c:v>
                </c:pt>
                <c:pt idx="1">
                  <c:v>9</c:v>
                </c:pt>
                <c:pt idx="2">
                  <c:v>9</c:v>
                </c:pt>
                <c:pt idx="3">
                  <c:v>18</c:v>
                </c:pt>
                <c:pt idx="4">
                  <c:v>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0527-1146-BA6A-29D67EF4642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A2744"/>
                </a:solidFill>
                <a:latin typeface="Arial"/>
              </a:defRPr>
            </a:pPr>
            <a:r>
              <a:rPr lang="en-US" sz="1300" b="0" i="0" u="none" strike="noStrike">
                <a:solidFill>
                  <a:srgbClr val="1A2744"/>
                </a:solidFill>
                <a:latin typeface="Arial"/>
              </a:rPr>
              <a:t>Resolution Rate by Agent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Resolution Rate (%)</c:v>
                </c:pt>
              </c:strCache>
            </c:strRef>
          </c:tx>
          <c:spPr>
            <a:solidFill>
              <a:srgbClr val="22C55E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28BF-D64E-8EEB-CCAC36AC6D3A}"/>
              </c:ext>
            </c:extLst>
          </c:dPt>
          <c:dPt>
            <c:idx val="1"/>
            <c:invertIfNegative val="0"/>
            <c:bubble3D val="0"/>
            <c:spPr>
              <a:solidFill>
                <a:srgbClr val="0D94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28BF-D64E-8EEB-CCAC36AC6D3A}"/>
              </c:ext>
            </c:extLst>
          </c:dPt>
          <c:dPt>
            <c:idx val="2"/>
            <c:invertIfNegative val="0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28BF-D64E-8EEB-CCAC36AC6D3A}"/>
              </c:ext>
            </c:extLst>
          </c:dPt>
          <c:dPt>
            <c:idx val="3"/>
            <c:invertIfNegative val="0"/>
            <c:bubble3D val="0"/>
            <c:spPr>
              <a:solidFill>
                <a:srgbClr val="F0525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28BF-D64E-8EEB-CCAC36AC6D3A}"/>
              </c:ext>
            </c:extLst>
          </c:dPt>
          <c:dPt>
            <c:idx val="4"/>
            <c:invertIfNegative val="0"/>
            <c:bubble3D val="0"/>
            <c:spPr>
              <a:solidFill>
                <a:srgbClr val="DC262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28BF-D64E-8EEB-CCAC36AC6D3A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F172A"/>
                    </a:solidFill>
                    <a:latin typeface="Arial"/>
                  </a:defRPr>
                </a:pPr>
                <a:endParaRPr lang="en-BH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A002</c:v>
                </c:pt>
                <c:pt idx="1">
                  <c:v>A003</c:v>
                </c:pt>
                <c:pt idx="2">
                  <c:v>A001</c:v>
                </c:pt>
                <c:pt idx="3">
                  <c:v>A004</c:v>
                </c:pt>
                <c:pt idx="4">
                  <c:v>A005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66.7</c:v>
                </c:pt>
                <c:pt idx="1">
                  <c:v>55.6</c:v>
                </c:pt>
                <c:pt idx="2">
                  <c:v>42.9</c:v>
                </c:pt>
                <c:pt idx="3">
                  <c:v>38.9</c:v>
                </c:pt>
                <c:pt idx="4">
                  <c:v>28.6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28BF-D64E-8EEB-CCAC36AC6D3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Satisfaction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DC262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7E1F-C54C-B569-8C451D1E8B59}"/>
              </c:ext>
            </c:extLst>
          </c:dPt>
          <c:dPt>
            <c:idx val="1"/>
            <c:bubble3D val="0"/>
            <c:spPr>
              <a:solidFill>
                <a:srgbClr val="F0525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7E1F-C54C-B569-8C451D1E8B59}"/>
              </c:ext>
            </c:extLst>
          </c:dPt>
          <c:dPt>
            <c:idx val="2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7E1F-C54C-B569-8C451D1E8B59}"/>
              </c:ext>
            </c:extLst>
          </c:dPt>
          <c:dPt>
            <c:idx val="3"/>
            <c:bubble3D val="0"/>
            <c:spPr>
              <a:solidFill>
                <a:srgbClr val="0D94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7E1F-C54C-B569-8C451D1E8B59}"/>
              </c:ext>
            </c:extLst>
          </c:dPt>
          <c:dPt>
            <c:idx val="4"/>
            <c:bubble3D val="0"/>
            <c:spPr>
              <a:solidFill>
                <a:srgbClr val="22C55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7E1F-C54C-B569-8C451D1E8B59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BH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7E1F-C54C-B569-8C451D1E8B59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BH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7E1F-C54C-B569-8C451D1E8B59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BH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7E1F-C54C-B569-8C451D1E8B59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BH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7E1F-C54C-B569-8C451D1E8B59}"/>
                </c:ext>
              </c:extLst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BH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7E1F-C54C-B569-8C451D1E8B59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BH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Sheet1!$A$2:$A$6</c:f>
              <c:strCache>
                <c:ptCount val="5"/>
                <c:pt idx="0">
                  <c:v>Rating 1 – Very Dissatisfied</c:v>
                </c:pt>
                <c:pt idx="1">
                  <c:v>Rating 2 – Dissatisfied</c:v>
                </c:pt>
                <c:pt idx="2">
                  <c:v>Rating 3 – Neutral</c:v>
                </c:pt>
                <c:pt idx="3">
                  <c:v>Rating 4 – Satisfied</c:v>
                </c:pt>
                <c:pt idx="4">
                  <c:v>Rating 5 – Very Satisfied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</c:v>
                </c:pt>
                <c:pt idx="1">
                  <c:v>14</c:v>
                </c:pt>
                <c:pt idx="2">
                  <c:v>9</c:v>
                </c:pt>
                <c:pt idx="3">
                  <c:v>13</c:v>
                </c:pt>
                <c:pt idx="4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7E1F-C54C-B569-8C451D1E8B5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A2744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1A2744"/>
                </a:solidFill>
                <a:latin typeface="Arial"/>
              </a:rPr>
              <a:t>Avg Response Time by Priority (min)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Response Time (min)</c:v>
                </c:pt>
              </c:strCache>
            </c:strRef>
          </c:tx>
          <c:spPr>
            <a:solidFill>
              <a:srgbClr val="DC2626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D734-2843-8710-3CFFCF4790AB}"/>
              </c:ext>
            </c:extLst>
          </c:dPt>
          <c:dPt>
            <c:idx val="1"/>
            <c:invertIfNegative val="0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D734-2843-8710-3CFFCF4790AB}"/>
              </c:ext>
            </c:extLst>
          </c:dPt>
          <c:dPt>
            <c:idx val="2"/>
            <c:invertIfNegative val="0"/>
            <c:bubble3D val="0"/>
            <c:spPr>
              <a:solidFill>
                <a:srgbClr val="0D94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D734-2843-8710-3CFFCF4790AB}"/>
              </c:ext>
            </c:extLst>
          </c:dPt>
          <c:dPt>
            <c:idx val="3"/>
            <c:invertIfNegative val="0"/>
            <c:bubble3D val="0"/>
            <c:spPr>
              <a:solidFill>
                <a:srgbClr val="64748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D734-2843-8710-3CFFCF4790AB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F172A"/>
                    </a:solidFill>
                    <a:latin typeface="Arial"/>
                  </a:defRPr>
                </a:pPr>
                <a:endParaRPr lang="en-BH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Critical</c:v>
                </c:pt>
                <c:pt idx="1">
                  <c:v>High</c:v>
                </c:pt>
                <c:pt idx="2">
                  <c:v>Medium</c:v>
                </c:pt>
                <c:pt idx="3">
                  <c:v>Low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183.3</c:v>
                </c:pt>
                <c:pt idx="1">
                  <c:v>112.3</c:v>
                </c:pt>
                <c:pt idx="2">
                  <c:v>112.2</c:v>
                </c:pt>
                <c:pt idx="3">
                  <c:v>144.19999999999999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D734-2843-8710-3CFFCF4790A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A2744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1A2744"/>
                </a:solidFill>
                <a:latin typeface="Arial"/>
              </a:rPr>
              <a:t>Avg Resolution Time by Issue Type (min)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Resolution Time (min)</c:v>
                </c:pt>
              </c:strCache>
            </c:strRef>
          </c:tx>
          <c:spPr>
            <a:solidFill>
              <a:srgbClr val="22C55E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D576-074B-93F7-FCF8C416266B}"/>
              </c:ext>
            </c:extLst>
          </c:dPt>
          <c:dPt>
            <c:idx val="1"/>
            <c:invertIfNegative val="0"/>
            <c:bubble3D val="0"/>
            <c:spPr>
              <a:solidFill>
                <a:srgbClr val="0D94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D576-074B-93F7-FCF8C416266B}"/>
              </c:ext>
            </c:extLst>
          </c:dPt>
          <c:dPt>
            <c:idx val="2"/>
            <c:invertIfNegative val="0"/>
            <c:bubble3D val="0"/>
            <c:spPr>
              <a:solidFill>
                <a:srgbClr val="38BDF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D576-074B-93F7-FCF8C416266B}"/>
              </c:ext>
            </c:extLst>
          </c:dPt>
          <c:dPt>
            <c:idx val="3"/>
            <c:invertIfNegative val="0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D576-074B-93F7-FCF8C416266B}"/>
              </c:ext>
            </c:extLst>
          </c:dPt>
          <c:dPt>
            <c:idx val="4"/>
            <c:invertIfNegative val="0"/>
            <c:bubble3D val="0"/>
            <c:spPr>
              <a:solidFill>
                <a:srgbClr val="F0525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D576-074B-93F7-FCF8C416266B}"/>
              </c:ext>
            </c:extLst>
          </c:dPt>
          <c:dPt>
            <c:idx val="5"/>
            <c:invertIfNegative val="0"/>
            <c:bubble3D val="0"/>
            <c:spPr>
              <a:solidFill>
                <a:srgbClr val="7C3AE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D576-074B-93F7-FCF8C416266B}"/>
              </c:ext>
            </c:extLst>
          </c:dPt>
          <c:dPt>
            <c:idx val="6"/>
            <c:invertIfNegative val="0"/>
            <c:bubble3D val="0"/>
            <c:spPr>
              <a:solidFill>
                <a:srgbClr val="DC262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D576-074B-93F7-FCF8C416266B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F172A"/>
                    </a:solidFill>
                    <a:latin typeface="Arial"/>
                  </a:defRPr>
                </a:pPr>
                <a:endParaRPr lang="en-BH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Feature Req.</c:v>
                </c:pt>
                <c:pt idx="1">
                  <c:v>API Issue</c:v>
                </c:pt>
                <c:pt idx="2">
                  <c:v>UI Bug</c:v>
                </c:pt>
                <c:pt idx="3">
                  <c:v>Data Import</c:v>
                </c:pt>
                <c:pt idx="4">
                  <c:v>Report Gen.</c:v>
                </c:pt>
                <c:pt idx="5">
                  <c:v>Login Issue</c:v>
                </c:pt>
                <c:pt idx="6">
                  <c:v>Billing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499.5</c:v>
                </c:pt>
                <c:pt idx="1">
                  <c:v>505.4</c:v>
                </c:pt>
                <c:pt idx="2">
                  <c:v>586</c:v>
                </c:pt>
                <c:pt idx="3">
                  <c:v>721.2</c:v>
                </c:pt>
                <c:pt idx="4">
                  <c:v>769.4</c:v>
                </c:pt>
                <c:pt idx="5">
                  <c:v>773.8</c:v>
                </c:pt>
                <c:pt idx="6">
                  <c:v>758.8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D576-074B-93F7-FCF8C416266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A2744"/>
                </a:solidFill>
                <a:latin typeface="Arial"/>
              </a:defRPr>
            </a:pPr>
            <a:r>
              <a:rPr lang="en-US" sz="1300" b="0" i="0" u="none" strike="noStrike">
                <a:solidFill>
                  <a:srgbClr val="1A2744"/>
                </a:solidFill>
                <a:latin typeface="Arial"/>
              </a:rPr>
              <a:t>Avg Satisfaction Score (1–5)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Satisfaction (out of 5)</c:v>
                </c:pt>
              </c:strCache>
            </c:strRef>
          </c:tx>
          <c:spPr>
            <a:solidFill>
              <a:srgbClr val="22C55E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B4FA-6247-BEBA-44AE01687144}"/>
              </c:ext>
            </c:extLst>
          </c:dPt>
          <c:dPt>
            <c:idx val="1"/>
            <c:invertIfNegative val="0"/>
            <c:bubble3D val="0"/>
            <c:spPr>
              <a:solidFill>
                <a:srgbClr val="0D94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B4FA-6247-BEBA-44AE01687144}"/>
              </c:ext>
            </c:extLst>
          </c:dPt>
          <c:dPt>
            <c:idx val="2"/>
            <c:invertIfNegative val="0"/>
            <c:bubble3D val="0"/>
            <c:spPr>
              <a:solidFill>
                <a:srgbClr val="38BDF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B4FA-6247-BEBA-44AE01687144}"/>
              </c:ext>
            </c:extLst>
          </c:dPt>
          <c:dPt>
            <c:idx val="3"/>
            <c:invertIfNegative val="0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B4FA-6247-BEBA-44AE01687144}"/>
              </c:ext>
            </c:extLst>
          </c:dPt>
          <c:dPt>
            <c:idx val="4"/>
            <c:invertIfNegative val="0"/>
            <c:bubble3D val="0"/>
            <c:spPr>
              <a:solidFill>
                <a:srgbClr val="DC262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B4FA-6247-BEBA-44AE01687144}"/>
              </c:ext>
            </c:extLst>
          </c:dPt>
          <c:dPt>
            <c:idx val="5"/>
            <c:invertIfNegative val="0"/>
            <c:bubble3D val="0"/>
            <c:spPr>
              <a:solidFill>
                <a:srgbClr val="F0525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B4FA-6247-BEBA-44AE01687144}"/>
              </c:ext>
            </c:extLst>
          </c:dPt>
          <c:dPt>
            <c:idx val="6"/>
            <c:invertIfNegative val="0"/>
            <c:bubble3D val="0"/>
            <c:spPr>
              <a:solidFill>
                <a:srgbClr val="EF444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B4FA-6247-BEBA-44AE01687144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F172A"/>
                    </a:solidFill>
                    <a:latin typeface="Arial"/>
                  </a:defRPr>
                </a:pPr>
                <a:endParaRPr lang="en-BH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Login Issue</c:v>
                </c:pt>
                <c:pt idx="1">
                  <c:v>API Issue</c:v>
                </c:pt>
                <c:pt idx="2">
                  <c:v>UI Bug</c:v>
                </c:pt>
                <c:pt idx="3">
                  <c:v>Data Import</c:v>
                </c:pt>
                <c:pt idx="4">
                  <c:v>Report Gen.</c:v>
                </c:pt>
                <c:pt idx="5">
                  <c:v>Feature Req.</c:v>
                </c:pt>
                <c:pt idx="6">
                  <c:v>Billing Issue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4.33</c:v>
                </c:pt>
                <c:pt idx="1">
                  <c:v>3.8</c:v>
                </c:pt>
                <c:pt idx="2">
                  <c:v>3.67</c:v>
                </c:pt>
                <c:pt idx="3">
                  <c:v>2.36</c:v>
                </c:pt>
                <c:pt idx="4">
                  <c:v>2</c:v>
                </c:pt>
                <c:pt idx="5">
                  <c:v>2.17</c:v>
                </c:pt>
                <c:pt idx="6">
                  <c:v>2.27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B4FA-6247-BEBA-44AE0168714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529874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BH"/>
          </a:p>
        </p:txBody>
      </p:sp>
      <p:sp>
        <p:nvSpPr>
          <p:cNvPr id="3" name="Shape 1"/>
          <p:cNvSpPr/>
          <p:nvPr/>
        </p:nvSpPr>
        <p:spPr>
          <a:xfrm>
            <a:off x="7132320" y="-731520"/>
            <a:ext cx="2926080" cy="2926080"/>
          </a:xfrm>
          <a:prstGeom prst="ellipse">
            <a:avLst/>
          </a:prstGeom>
          <a:solidFill>
            <a:srgbClr val="243461"/>
          </a:solidFill>
          <a:ln w="254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BH"/>
          </a:p>
        </p:txBody>
      </p:sp>
      <p:sp>
        <p:nvSpPr>
          <p:cNvPr id="4" name="Shape 2"/>
          <p:cNvSpPr/>
          <p:nvPr/>
        </p:nvSpPr>
        <p:spPr>
          <a:xfrm>
            <a:off x="7589520" y="-274320"/>
            <a:ext cx="2011680" cy="2011680"/>
          </a:xfrm>
          <a:prstGeom prst="ellipse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BH"/>
          </a:p>
        </p:txBody>
      </p:sp>
      <p:sp>
        <p:nvSpPr>
          <p:cNvPr id="5" name="Shape 3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4B8A6">
              <a:alpha val="30000"/>
            </a:srgbClr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BH"/>
          </a:p>
        </p:txBody>
      </p:sp>
      <p:sp>
        <p:nvSpPr>
          <p:cNvPr id="6" name="Text 4"/>
          <p:cNvSpPr/>
          <p:nvPr/>
        </p:nvSpPr>
        <p:spPr>
          <a:xfrm>
            <a:off x="548640" y="91440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4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TICKETS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548640" y="169164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400" b="1" kern="0" spc="3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ANALYSIS REPORT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548640" y="265176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2023 – Jul 2023  |  50 Tickets  |  5 Agents  |  7 Issue Types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246120"/>
            <a:ext cx="1920240" cy="777240"/>
          </a:xfrm>
          <a:prstGeom prst="roundRect">
            <a:avLst>
              <a:gd name="adj" fmla="val 11765"/>
            </a:avLst>
          </a:prstGeom>
          <a:solidFill>
            <a:srgbClr val="0D9488">
              <a:alpha val="25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BH"/>
          </a:p>
        </p:txBody>
      </p:sp>
      <p:sp>
        <p:nvSpPr>
          <p:cNvPr id="10" name="Text 8"/>
          <p:cNvSpPr/>
          <p:nvPr/>
        </p:nvSpPr>
        <p:spPr>
          <a:xfrm>
            <a:off x="548640" y="327355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48640" y="3621024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697480" y="3246120"/>
            <a:ext cx="1920240" cy="777240"/>
          </a:xfrm>
          <a:prstGeom prst="roundRect">
            <a:avLst>
              <a:gd name="adj" fmla="val 11765"/>
            </a:avLst>
          </a:prstGeom>
          <a:solidFill>
            <a:srgbClr val="0D9488">
              <a:alpha val="25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BH"/>
          </a:p>
        </p:txBody>
      </p:sp>
      <p:sp>
        <p:nvSpPr>
          <p:cNvPr id="13" name="Text 11"/>
          <p:cNvSpPr/>
          <p:nvPr/>
        </p:nvSpPr>
        <p:spPr>
          <a:xfrm>
            <a:off x="2697480" y="327355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2697480" y="3621024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846320" y="3246120"/>
            <a:ext cx="1920240" cy="777240"/>
          </a:xfrm>
          <a:prstGeom prst="roundRect">
            <a:avLst>
              <a:gd name="adj" fmla="val 11765"/>
            </a:avLst>
          </a:prstGeom>
          <a:solidFill>
            <a:srgbClr val="0D9488">
              <a:alpha val="25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BH"/>
          </a:p>
        </p:txBody>
      </p:sp>
      <p:sp>
        <p:nvSpPr>
          <p:cNvPr id="16" name="Text 14"/>
          <p:cNvSpPr/>
          <p:nvPr/>
        </p:nvSpPr>
        <p:spPr>
          <a:xfrm>
            <a:off x="4846320" y="327355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846320" y="3621024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Types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995160" y="3246120"/>
            <a:ext cx="1920240" cy="777240"/>
          </a:xfrm>
          <a:prstGeom prst="roundRect">
            <a:avLst>
              <a:gd name="adj" fmla="val 11765"/>
            </a:avLst>
          </a:prstGeom>
          <a:solidFill>
            <a:srgbClr val="0D9488">
              <a:alpha val="25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BH"/>
          </a:p>
        </p:txBody>
      </p:sp>
      <p:sp>
        <p:nvSpPr>
          <p:cNvPr id="19" name="Text 17"/>
          <p:cNvSpPr/>
          <p:nvPr/>
        </p:nvSpPr>
        <p:spPr>
          <a:xfrm>
            <a:off x="6995160" y="327355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mo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995160" y="3621024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470916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MCP Data Analysis  |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  <p:txBody>
          <a:bodyPr/>
          <a:lstStyle/>
          <a:p>
            <a:endParaRPr lang="en-BH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943600" y="0"/>
            <a:ext cx="2834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metrics &amp; headline insights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8600" y="868680"/>
            <a:ext cx="2011680" cy="118872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  <p:txBody>
          <a:bodyPr/>
          <a:lstStyle/>
          <a:p>
            <a:endParaRPr lang="en-BH"/>
          </a:p>
        </p:txBody>
      </p:sp>
      <p:sp>
        <p:nvSpPr>
          <p:cNvPr id="6" name="Text 4"/>
          <p:cNvSpPr/>
          <p:nvPr/>
        </p:nvSpPr>
        <p:spPr>
          <a:xfrm>
            <a:off x="228600" y="896112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228600" y="1572768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Tickets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41448" y="868680"/>
            <a:ext cx="2011680" cy="1188720"/>
          </a:xfrm>
          <a:prstGeom prst="rect">
            <a:avLst/>
          </a:prstGeom>
          <a:solidFill>
            <a:srgbClr val="F05252"/>
          </a:solidFill>
          <a:ln w="12700">
            <a:solidFill>
              <a:srgbClr val="F05252"/>
            </a:solidFill>
            <a:prstDash val="solid"/>
          </a:ln>
        </p:spPr>
        <p:txBody>
          <a:bodyPr/>
          <a:lstStyle/>
          <a:p>
            <a:endParaRPr lang="en-BH"/>
          </a:p>
        </p:txBody>
      </p:sp>
      <p:sp>
        <p:nvSpPr>
          <p:cNvPr id="9" name="Text 7"/>
          <p:cNvSpPr/>
          <p:nvPr/>
        </p:nvSpPr>
        <p:spPr>
          <a:xfrm>
            <a:off x="2441448" y="896112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46%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2441448" y="1572768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 Rate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54296" y="868680"/>
            <a:ext cx="2011680" cy="1188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BH"/>
          </a:p>
        </p:txBody>
      </p:sp>
      <p:sp>
        <p:nvSpPr>
          <p:cNvPr id="12" name="Text 10"/>
          <p:cNvSpPr/>
          <p:nvPr/>
        </p:nvSpPr>
        <p:spPr>
          <a:xfrm>
            <a:off x="4654296" y="896112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2.82/5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4654296" y="1572768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Satisfaction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867144" y="868680"/>
            <a:ext cx="2011680" cy="1188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BH"/>
          </a:p>
        </p:txBody>
      </p:sp>
      <p:sp>
        <p:nvSpPr>
          <p:cNvPr id="15" name="Text 13"/>
          <p:cNvSpPr/>
          <p:nvPr/>
        </p:nvSpPr>
        <p:spPr>
          <a:xfrm>
            <a:off x="6867144" y="896112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~2.2h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6867144" y="1572768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Response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28600" y="2240280"/>
            <a:ext cx="8686800" cy="438912"/>
          </a:xfrm>
          <a:prstGeom prst="rect">
            <a:avLst/>
          </a:prstGeom>
          <a:solidFill>
            <a:srgbClr val="FEF2F2"/>
          </a:solidFill>
          <a:ln w="12700">
            <a:solidFill>
              <a:srgbClr val="F05252"/>
            </a:solidFill>
            <a:prstDash val="solid"/>
          </a:ln>
        </p:spPr>
        <p:txBody>
          <a:bodyPr/>
          <a:lstStyle/>
          <a:p>
            <a:endParaRPr lang="en-BH"/>
          </a:p>
        </p:txBody>
      </p:sp>
      <p:sp>
        <p:nvSpPr>
          <p:cNvPr id="18" name="Shape 16"/>
          <p:cNvSpPr/>
          <p:nvPr/>
        </p:nvSpPr>
        <p:spPr>
          <a:xfrm>
            <a:off x="228600" y="2240280"/>
            <a:ext cx="54864" cy="438912"/>
          </a:xfrm>
          <a:prstGeom prst="rect">
            <a:avLst/>
          </a:prstGeom>
          <a:solidFill>
            <a:srgbClr val="F05252"/>
          </a:solidFill>
          <a:ln w="12700">
            <a:solidFill>
              <a:srgbClr val="F05252"/>
            </a:solidFill>
            <a:prstDash val="solid"/>
          </a:ln>
        </p:spPr>
        <p:txBody>
          <a:bodyPr/>
          <a:lstStyle/>
          <a:p>
            <a:endParaRPr lang="en-BH"/>
          </a:p>
        </p:txBody>
      </p:sp>
      <p:sp>
        <p:nvSpPr>
          <p:cNvPr id="19" name="Text 17"/>
          <p:cNvSpPr/>
          <p:nvPr/>
        </p:nvSpPr>
        <p:spPr>
          <a:xfrm>
            <a:off x="411480" y="2240280"/>
            <a:ext cx="8321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Resolution rate (46%) is BELOW the industry standard of ~80% — significant backlog exists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228600" y="2770632"/>
            <a:ext cx="8686800" cy="438912"/>
          </a:xfrm>
          <a:prstGeom prst="rect">
            <a:avLst/>
          </a:prstGeom>
          <a:solidFill>
            <a:srgbClr val="FEF2F2"/>
          </a:solidFill>
          <a:ln w="12700">
            <a:solidFill>
              <a:srgbClr val="F05252"/>
            </a:solidFill>
            <a:prstDash val="solid"/>
          </a:ln>
        </p:spPr>
        <p:txBody>
          <a:bodyPr/>
          <a:lstStyle/>
          <a:p>
            <a:endParaRPr lang="en-BH"/>
          </a:p>
        </p:txBody>
      </p:sp>
      <p:sp>
        <p:nvSpPr>
          <p:cNvPr id="21" name="Shape 19"/>
          <p:cNvSpPr/>
          <p:nvPr/>
        </p:nvSpPr>
        <p:spPr>
          <a:xfrm>
            <a:off x="228600" y="2770632"/>
            <a:ext cx="54864" cy="438912"/>
          </a:xfrm>
          <a:prstGeom prst="rect">
            <a:avLst/>
          </a:prstGeom>
          <a:solidFill>
            <a:srgbClr val="F05252"/>
          </a:solidFill>
          <a:ln w="12700">
            <a:solidFill>
              <a:srgbClr val="F05252"/>
            </a:solidFill>
            <a:prstDash val="solid"/>
          </a:ln>
        </p:spPr>
        <p:txBody>
          <a:bodyPr/>
          <a:lstStyle/>
          <a:p>
            <a:endParaRPr lang="en-BH"/>
          </a:p>
        </p:txBody>
      </p:sp>
      <p:sp>
        <p:nvSpPr>
          <p:cNvPr id="22" name="Text 20"/>
          <p:cNvSpPr/>
          <p:nvPr/>
        </p:nvSpPr>
        <p:spPr>
          <a:xfrm>
            <a:off x="411480" y="2770632"/>
            <a:ext cx="8321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More than half of all tickets (54%) remain unresolved — backlog is actively growing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228600" y="3300984"/>
            <a:ext cx="8686800" cy="438912"/>
          </a:xfrm>
          <a:prstGeom prst="rect">
            <a:avLst/>
          </a:prstGeom>
          <a:solidFill>
            <a:srgbClr val="FFFBE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BH"/>
          </a:p>
        </p:txBody>
      </p:sp>
      <p:sp>
        <p:nvSpPr>
          <p:cNvPr id="24" name="Shape 22"/>
          <p:cNvSpPr/>
          <p:nvPr/>
        </p:nvSpPr>
        <p:spPr>
          <a:xfrm>
            <a:off x="228600" y="3300984"/>
            <a:ext cx="54864" cy="43891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BH"/>
          </a:p>
        </p:txBody>
      </p:sp>
      <p:sp>
        <p:nvSpPr>
          <p:cNvPr id="25" name="Text 23"/>
          <p:cNvSpPr/>
          <p:nvPr/>
        </p:nvSpPr>
        <p:spPr>
          <a:xfrm>
            <a:off x="411480" y="3300984"/>
            <a:ext cx="8321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Critical tickets avg 183 min response — SLOWER than Low priority tickets (144 min) — SLA inversion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228600" y="3831336"/>
            <a:ext cx="8686800" cy="438912"/>
          </a:xfrm>
          <a:prstGeom prst="rect">
            <a:avLst/>
          </a:prstGeom>
          <a:solidFill>
            <a:srgbClr val="F0FDF4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BH"/>
          </a:p>
        </p:txBody>
      </p:sp>
      <p:sp>
        <p:nvSpPr>
          <p:cNvPr id="27" name="Shape 25"/>
          <p:cNvSpPr/>
          <p:nvPr/>
        </p:nvSpPr>
        <p:spPr>
          <a:xfrm>
            <a:off x="228600" y="3831336"/>
            <a:ext cx="54864" cy="43891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BH"/>
          </a:p>
        </p:txBody>
      </p:sp>
      <p:sp>
        <p:nvSpPr>
          <p:cNvPr id="28" name="Text 26"/>
          <p:cNvSpPr/>
          <p:nvPr/>
        </p:nvSpPr>
        <p:spPr>
          <a:xfrm>
            <a:off x="411480" y="3831336"/>
            <a:ext cx="8321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Agent A003 leads with 3.11/5 satisfaction &amp; fastest response time of 95.6 min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228600" y="4361688"/>
            <a:ext cx="8686800" cy="438912"/>
          </a:xfrm>
          <a:prstGeom prst="rect">
            <a:avLst/>
          </a:prstGeom>
          <a:solidFill>
            <a:srgbClr val="F0FDF4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BH"/>
          </a:p>
        </p:txBody>
      </p:sp>
      <p:sp>
        <p:nvSpPr>
          <p:cNvPr id="30" name="Shape 28"/>
          <p:cNvSpPr/>
          <p:nvPr/>
        </p:nvSpPr>
        <p:spPr>
          <a:xfrm>
            <a:off x="228600" y="4361688"/>
            <a:ext cx="54864" cy="43891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BH"/>
          </a:p>
        </p:txBody>
      </p:sp>
      <p:sp>
        <p:nvSpPr>
          <p:cNvPr id="31" name="Text 29"/>
          <p:cNvSpPr/>
          <p:nvPr/>
        </p:nvSpPr>
        <p:spPr>
          <a:xfrm>
            <a:off x="411480" y="4361688"/>
            <a:ext cx="8321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Login Issues score highest satisfaction (4.33/5) — a bright spot for customer experience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BH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VOLUME &amp; ISSUE TYPE ANALYSIS</a:t>
            </a:r>
            <a:endParaRPr lang="en-US" sz="2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74320" y="822960"/>
          <a:ext cx="457200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1"/>
          <p:cNvGraphicFramePr/>
          <p:nvPr/>
        </p:nvGraphicFramePr>
        <p:xfrm>
          <a:off x="5029200" y="822960"/>
          <a:ext cx="384048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Text 2"/>
          <p:cNvSpPr/>
          <p:nvPr/>
        </p:nvSpPr>
        <p:spPr>
          <a:xfrm>
            <a:off x="274320" y="470916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Import &amp; Billing dominate volume (44% combined) with poor resolution rates  |  Report Generation only 20% resolved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  <p:txBody>
          <a:bodyPr/>
          <a:lstStyle/>
          <a:p>
            <a:endParaRPr lang="en-BH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LEVEL ANALYSIS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28600" y="822960"/>
            <a:ext cx="1965960" cy="2743200"/>
          </a:xfrm>
          <a:prstGeom prst="rect">
            <a:avLst/>
          </a:prstGeom>
          <a:solidFill>
            <a:srgbClr val="FEF2F2"/>
          </a:solidFill>
          <a:ln w="254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BH"/>
          </a:p>
        </p:txBody>
      </p:sp>
      <p:sp>
        <p:nvSpPr>
          <p:cNvPr id="5" name="Shape 3"/>
          <p:cNvSpPr/>
          <p:nvPr/>
        </p:nvSpPr>
        <p:spPr>
          <a:xfrm>
            <a:off x="228600" y="822960"/>
            <a:ext cx="1965960" cy="4114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BH"/>
          </a:p>
        </p:txBody>
      </p:sp>
      <p:sp>
        <p:nvSpPr>
          <p:cNvPr id="6" name="Text 4"/>
          <p:cNvSpPr/>
          <p:nvPr/>
        </p:nvSpPr>
        <p:spPr>
          <a:xfrm>
            <a:off x="228600" y="82296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28600" y="1298448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228600" y="1901952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28600" y="224028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Resolved: 71.4%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28600" y="2560320"/>
            <a:ext cx="1965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Response: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28600" y="2761488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183 min ⚠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414016" y="822960"/>
            <a:ext cx="1965960" cy="2743200"/>
          </a:xfrm>
          <a:prstGeom prst="rect">
            <a:avLst/>
          </a:prstGeom>
          <a:solidFill>
            <a:srgbClr val="FFFBEB"/>
          </a:solidFill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BH"/>
          </a:p>
        </p:txBody>
      </p:sp>
      <p:sp>
        <p:nvSpPr>
          <p:cNvPr id="13" name="Shape 11"/>
          <p:cNvSpPr/>
          <p:nvPr/>
        </p:nvSpPr>
        <p:spPr>
          <a:xfrm>
            <a:off x="2414016" y="822960"/>
            <a:ext cx="1965960" cy="411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BH"/>
          </a:p>
        </p:txBody>
      </p:sp>
      <p:sp>
        <p:nvSpPr>
          <p:cNvPr id="14" name="Text 12"/>
          <p:cNvSpPr/>
          <p:nvPr/>
        </p:nvSpPr>
        <p:spPr>
          <a:xfrm>
            <a:off x="2414016" y="82296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414016" y="1298448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2414016" y="1901952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414016" y="224028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Resolved: 52.6%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414016" y="2560320"/>
            <a:ext cx="1965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Response: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414016" y="2761488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112 min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99432" y="822960"/>
            <a:ext cx="1965960" cy="2743200"/>
          </a:xfrm>
          <a:prstGeom prst="rect">
            <a:avLst/>
          </a:prstGeom>
          <a:solidFill>
            <a:srgbClr val="F0FDFA"/>
          </a:solidFill>
          <a:ln w="254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BH"/>
          </a:p>
        </p:txBody>
      </p:sp>
      <p:sp>
        <p:nvSpPr>
          <p:cNvPr id="21" name="Shape 19"/>
          <p:cNvSpPr/>
          <p:nvPr/>
        </p:nvSpPr>
        <p:spPr>
          <a:xfrm>
            <a:off x="4599432" y="822960"/>
            <a:ext cx="1965960" cy="411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BH"/>
          </a:p>
        </p:txBody>
      </p:sp>
      <p:sp>
        <p:nvSpPr>
          <p:cNvPr id="22" name="Text 20"/>
          <p:cNvSpPr/>
          <p:nvPr/>
        </p:nvSpPr>
        <p:spPr>
          <a:xfrm>
            <a:off x="4599432" y="82296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99432" y="1298448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3600" dirty="0"/>
          </a:p>
        </p:txBody>
      </p:sp>
      <p:sp>
        <p:nvSpPr>
          <p:cNvPr id="24" name="Text 22"/>
          <p:cNvSpPr/>
          <p:nvPr/>
        </p:nvSpPr>
        <p:spPr>
          <a:xfrm>
            <a:off x="4599432" y="1901952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99432" y="224028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Resolved: 33.3%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99432" y="2560320"/>
            <a:ext cx="1965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Response: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599432" y="2761488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112 min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784848" y="822960"/>
            <a:ext cx="1965960" cy="2743200"/>
          </a:xfrm>
          <a:prstGeom prst="rect">
            <a:avLst/>
          </a:prstGeom>
          <a:solidFill>
            <a:srgbClr val="F8FAFC"/>
          </a:solidFill>
          <a:ln w="254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BH"/>
          </a:p>
        </p:txBody>
      </p:sp>
      <p:sp>
        <p:nvSpPr>
          <p:cNvPr id="29" name="Shape 27"/>
          <p:cNvSpPr/>
          <p:nvPr/>
        </p:nvSpPr>
        <p:spPr>
          <a:xfrm>
            <a:off x="6784848" y="822960"/>
            <a:ext cx="1965960" cy="41148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BH"/>
          </a:p>
        </p:txBody>
      </p:sp>
      <p:sp>
        <p:nvSpPr>
          <p:cNvPr id="30" name="Text 28"/>
          <p:cNvSpPr/>
          <p:nvPr/>
        </p:nvSpPr>
        <p:spPr>
          <a:xfrm>
            <a:off x="6784848" y="82296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784848" y="1298448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3600" dirty="0"/>
          </a:p>
        </p:txBody>
      </p:sp>
      <p:sp>
        <p:nvSpPr>
          <p:cNvPr id="32" name="Text 30"/>
          <p:cNvSpPr/>
          <p:nvPr/>
        </p:nvSpPr>
        <p:spPr>
          <a:xfrm>
            <a:off x="6784848" y="1901952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784848" y="224028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Resolved: 33.3%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784848" y="2560320"/>
            <a:ext cx="1965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Response: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784848" y="2761488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144 min ⚠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228600" y="3749040"/>
            <a:ext cx="8686800" cy="685800"/>
          </a:xfrm>
          <a:prstGeom prst="rect">
            <a:avLst/>
          </a:prstGeom>
          <a:solidFill>
            <a:srgbClr val="FEF2F2"/>
          </a:solidFill>
          <a:ln w="1905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BH"/>
          </a:p>
        </p:txBody>
      </p:sp>
      <p:sp>
        <p:nvSpPr>
          <p:cNvPr id="37" name="Shape 35"/>
          <p:cNvSpPr/>
          <p:nvPr/>
        </p:nvSpPr>
        <p:spPr>
          <a:xfrm>
            <a:off x="228600" y="3749040"/>
            <a:ext cx="73152" cy="6858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BH"/>
          </a:p>
        </p:txBody>
      </p:sp>
      <p:sp>
        <p:nvSpPr>
          <p:cNvPr id="38" name="Text 36"/>
          <p:cNvSpPr/>
          <p:nvPr/>
        </p:nvSpPr>
        <p:spPr>
          <a:xfrm>
            <a:off x="457200" y="3749040"/>
            <a:ext cx="8321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SLA INVERSION DETECTED: Critical tickets receive the SLOWEST response (183 min) — even slower than Low priority (144 min). Implement hard SLA caps: Critical ≤30 min, High ≤60 min.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BH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PERFORMANCE ANALYSIS</a:t>
            </a:r>
            <a:endParaRPr lang="en-US" sz="2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74320" y="777240"/>
          <a:ext cx="438912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1"/>
          <p:cNvGraphicFramePr/>
          <p:nvPr/>
        </p:nvGraphicFramePr>
        <p:xfrm>
          <a:off x="4846320" y="777240"/>
          <a:ext cx="402336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4114800"/>
          <a:ext cx="8595360" cy="1424940"/>
        </p:xfrm>
        <a:graphic>
          <a:graphicData uri="http://schemas.openxmlformats.org/drawingml/2006/table">
            <a:tbl>
              <a:tblPr/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371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Tickets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Resolved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Res. Rate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Sat.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Response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71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A003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55.6%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3.11 ★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95.6 min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Best satisfaction &amp; fastest response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71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A002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66.7%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2.89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146 min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Highest resolution rate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71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A004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38.9%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2.89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142 min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7F1D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⚠ Overloaded — 36% of all tickets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71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A005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28.6%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2.86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115 min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7F1D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⚠ Worst resolution rate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71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A001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42.9%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2.14 ▼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138 min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7F1D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⚠ Lowest satisfaction — needs coaching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BH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SATISFACTION DISTRIBUTION</a:t>
            </a:r>
            <a:endParaRPr lang="en-US" sz="2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74320" y="777240"/>
          <a:ext cx="438912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4937760" y="822960"/>
            <a:ext cx="3931920" cy="594360"/>
          </a:xfrm>
          <a:prstGeom prst="rect">
            <a:avLst/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BH"/>
          </a:p>
        </p:txBody>
      </p:sp>
      <p:sp>
        <p:nvSpPr>
          <p:cNvPr id="6" name="Shape 3"/>
          <p:cNvSpPr/>
          <p:nvPr/>
        </p:nvSpPr>
        <p:spPr>
          <a:xfrm>
            <a:off x="4937760" y="822960"/>
            <a:ext cx="54864" cy="5943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BH"/>
          </a:p>
        </p:txBody>
      </p:sp>
      <p:sp>
        <p:nvSpPr>
          <p:cNvPr id="7" name="Text 4"/>
          <p:cNvSpPr/>
          <p:nvPr/>
        </p:nvSpPr>
        <p:spPr>
          <a:xfrm>
            <a:off x="5074920" y="822960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400800" y="822960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Dissatisfied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772400" y="822960"/>
            <a:ext cx="1051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(18%)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937760" y="1536192"/>
            <a:ext cx="3931920" cy="594360"/>
          </a:xfrm>
          <a:prstGeom prst="rect">
            <a:avLst/>
          </a:prstGeom>
          <a:solidFill>
            <a:srgbClr val="FFF5F5"/>
          </a:solidFill>
          <a:ln w="12700">
            <a:solidFill>
              <a:srgbClr val="F05252"/>
            </a:solidFill>
            <a:prstDash val="solid"/>
          </a:ln>
        </p:spPr>
        <p:txBody>
          <a:bodyPr/>
          <a:lstStyle/>
          <a:p>
            <a:endParaRPr lang="en-BH"/>
          </a:p>
        </p:txBody>
      </p:sp>
      <p:sp>
        <p:nvSpPr>
          <p:cNvPr id="11" name="Shape 8"/>
          <p:cNvSpPr/>
          <p:nvPr/>
        </p:nvSpPr>
        <p:spPr>
          <a:xfrm>
            <a:off x="4937760" y="1536192"/>
            <a:ext cx="54864" cy="594360"/>
          </a:xfrm>
          <a:prstGeom prst="rect">
            <a:avLst/>
          </a:prstGeom>
          <a:solidFill>
            <a:srgbClr val="F05252"/>
          </a:solidFill>
          <a:ln w="12700">
            <a:solidFill>
              <a:srgbClr val="F05252"/>
            </a:solidFill>
            <a:prstDash val="solid"/>
          </a:ln>
        </p:spPr>
        <p:txBody>
          <a:bodyPr/>
          <a:lstStyle/>
          <a:p>
            <a:endParaRPr lang="en-BH"/>
          </a:p>
        </p:txBody>
      </p:sp>
      <p:sp>
        <p:nvSpPr>
          <p:cNvPr id="12" name="Text 9"/>
          <p:cNvSpPr/>
          <p:nvPr/>
        </p:nvSpPr>
        <p:spPr>
          <a:xfrm>
            <a:off x="5074920" y="1536192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400800" y="1536192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Dissatisfied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7772400" y="1536192"/>
            <a:ext cx="1051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(28%)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937760" y="2249424"/>
            <a:ext cx="3931920" cy="594360"/>
          </a:xfrm>
          <a:prstGeom prst="rect">
            <a:avLst/>
          </a:prstGeom>
          <a:solidFill>
            <a:srgbClr val="FFFBE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BH"/>
          </a:p>
        </p:txBody>
      </p:sp>
      <p:sp>
        <p:nvSpPr>
          <p:cNvPr id="16" name="Shape 13"/>
          <p:cNvSpPr/>
          <p:nvPr/>
        </p:nvSpPr>
        <p:spPr>
          <a:xfrm>
            <a:off x="4937760" y="2249424"/>
            <a:ext cx="54864" cy="594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BH"/>
          </a:p>
        </p:txBody>
      </p:sp>
      <p:sp>
        <p:nvSpPr>
          <p:cNvPr id="17" name="Text 14"/>
          <p:cNvSpPr/>
          <p:nvPr/>
        </p:nvSpPr>
        <p:spPr>
          <a:xfrm>
            <a:off x="5074920" y="2249424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400800" y="2249424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7772400" y="2249424"/>
            <a:ext cx="1051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(18%)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937760" y="2962656"/>
            <a:ext cx="3931920" cy="594360"/>
          </a:xfrm>
          <a:prstGeom prst="rect">
            <a:avLst/>
          </a:prstGeom>
          <a:solidFill>
            <a:srgbClr val="F0FDFA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BH"/>
          </a:p>
        </p:txBody>
      </p:sp>
      <p:sp>
        <p:nvSpPr>
          <p:cNvPr id="21" name="Shape 18"/>
          <p:cNvSpPr/>
          <p:nvPr/>
        </p:nvSpPr>
        <p:spPr>
          <a:xfrm>
            <a:off x="4937760" y="2962656"/>
            <a:ext cx="54864" cy="5943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BH"/>
          </a:p>
        </p:txBody>
      </p:sp>
      <p:sp>
        <p:nvSpPr>
          <p:cNvPr id="22" name="Text 19"/>
          <p:cNvSpPr/>
          <p:nvPr/>
        </p:nvSpPr>
        <p:spPr>
          <a:xfrm>
            <a:off x="5074920" y="2962656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★★★★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6400800" y="2962656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Satisfied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7772400" y="2962656"/>
            <a:ext cx="1051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(26%)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4937760" y="3675888"/>
            <a:ext cx="3931920" cy="594360"/>
          </a:xfrm>
          <a:prstGeom prst="rect">
            <a:avLst/>
          </a:prstGeom>
          <a:solidFill>
            <a:srgbClr val="F0FDF4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BH"/>
          </a:p>
        </p:txBody>
      </p:sp>
      <p:sp>
        <p:nvSpPr>
          <p:cNvPr id="26" name="Shape 23"/>
          <p:cNvSpPr/>
          <p:nvPr/>
        </p:nvSpPr>
        <p:spPr>
          <a:xfrm>
            <a:off x="4937760" y="3675888"/>
            <a:ext cx="54864" cy="59436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BH"/>
          </a:p>
        </p:txBody>
      </p:sp>
      <p:sp>
        <p:nvSpPr>
          <p:cNvPr id="27" name="Text 24"/>
          <p:cNvSpPr/>
          <p:nvPr/>
        </p:nvSpPr>
        <p:spPr>
          <a:xfrm>
            <a:off x="5074920" y="3675888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★★★★★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6400800" y="3675888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Satisfied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7772400" y="3675888"/>
            <a:ext cx="1051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(10%)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4937760" y="4434840"/>
            <a:ext cx="3931920" cy="411480"/>
          </a:xfrm>
          <a:prstGeom prst="rect">
            <a:avLst/>
          </a:prstGeom>
          <a:solidFill>
            <a:srgbClr val="FEF2F2"/>
          </a:solidFill>
          <a:ln w="12700">
            <a:solidFill>
              <a:srgbClr val="F05252"/>
            </a:solidFill>
            <a:prstDash val="solid"/>
          </a:ln>
        </p:spPr>
        <p:txBody>
          <a:bodyPr/>
          <a:lstStyle/>
          <a:p>
            <a:endParaRPr lang="en-BH"/>
          </a:p>
        </p:txBody>
      </p:sp>
      <p:sp>
        <p:nvSpPr>
          <p:cNvPr id="31" name="Text 28"/>
          <p:cNvSpPr/>
          <p:nvPr/>
        </p:nvSpPr>
        <p:spPr>
          <a:xfrm>
            <a:off x="5029200" y="443484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46% of customers rated 1–2 out of 5. Overall avg: 2.82 / 5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BH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&amp; RESOLUTION TIME ANALYSIS</a:t>
            </a:r>
            <a:endParaRPr lang="en-US" sz="2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74320" y="777240"/>
          <a:ext cx="41148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1"/>
          <p:cNvGraphicFramePr/>
          <p:nvPr/>
        </p:nvGraphicFramePr>
        <p:xfrm>
          <a:off x="4663440" y="777240"/>
          <a:ext cx="420624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Shape 2"/>
          <p:cNvSpPr/>
          <p:nvPr/>
        </p:nvSpPr>
        <p:spPr>
          <a:xfrm>
            <a:off x="228600" y="3703320"/>
            <a:ext cx="2743200" cy="777240"/>
          </a:xfrm>
          <a:prstGeom prst="rect">
            <a:avLst/>
          </a:prstGeom>
          <a:solidFill>
            <a:srgbClr val="1A2744">
              <a:alpha val="12000"/>
            </a:srgbClr>
          </a:solidFill>
          <a:ln w="12700">
            <a:solidFill>
              <a:srgbClr val="1A2744"/>
            </a:solidFill>
            <a:prstDash val="solid"/>
          </a:ln>
        </p:spPr>
        <p:txBody>
          <a:bodyPr/>
          <a:lstStyle/>
          <a:p>
            <a:endParaRPr lang="en-BH"/>
          </a:p>
        </p:txBody>
      </p:sp>
      <p:sp>
        <p:nvSpPr>
          <p:cNvPr id="7" name="Text 3"/>
          <p:cNvSpPr/>
          <p:nvPr/>
        </p:nvSpPr>
        <p:spPr>
          <a:xfrm>
            <a:off x="228600" y="3721608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131.5 min</a:t>
            </a:r>
            <a:endParaRPr lang="en-US" sz="2000" dirty="0"/>
          </a:p>
        </p:txBody>
      </p:sp>
      <p:sp>
        <p:nvSpPr>
          <p:cNvPr id="8" name="Text 4"/>
          <p:cNvSpPr/>
          <p:nvPr/>
        </p:nvSpPr>
        <p:spPr>
          <a:xfrm>
            <a:off x="228600" y="409651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Avg Response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3200400" y="3703320"/>
            <a:ext cx="2743200" cy="777240"/>
          </a:xfrm>
          <a:prstGeom prst="rect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BH"/>
          </a:p>
        </p:txBody>
      </p:sp>
      <p:sp>
        <p:nvSpPr>
          <p:cNvPr id="10" name="Text 6"/>
          <p:cNvSpPr/>
          <p:nvPr/>
        </p:nvSpPr>
        <p:spPr>
          <a:xfrm>
            <a:off x="3200400" y="3721608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664.6 min</a:t>
            </a:r>
            <a:endParaRPr lang="en-US" sz="2000" dirty="0"/>
          </a:p>
        </p:txBody>
      </p:sp>
      <p:sp>
        <p:nvSpPr>
          <p:cNvPr id="11" name="Text 7"/>
          <p:cNvSpPr/>
          <p:nvPr/>
        </p:nvSpPr>
        <p:spPr>
          <a:xfrm>
            <a:off x="3200400" y="409651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Avg Resolution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6172200" y="3703320"/>
            <a:ext cx="2743200" cy="777240"/>
          </a:xfrm>
          <a:prstGeom prst="rect">
            <a:avLst/>
          </a:prstGeom>
          <a:solidFill>
            <a:srgbClr val="F05252">
              <a:alpha val="12000"/>
            </a:srgbClr>
          </a:solidFill>
          <a:ln w="12700">
            <a:solidFill>
              <a:srgbClr val="F05252"/>
            </a:solidFill>
            <a:prstDash val="solid"/>
          </a:ln>
        </p:spPr>
        <p:txBody>
          <a:bodyPr/>
          <a:lstStyle/>
          <a:p>
            <a:endParaRPr lang="en-BH"/>
          </a:p>
        </p:txBody>
      </p:sp>
      <p:sp>
        <p:nvSpPr>
          <p:cNvPr id="13" name="Text 9"/>
          <p:cNvSpPr/>
          <p:nvPr/>
        </p:nvSpPr>
        <p:spPr>
          <a:xfrm>
            <a:off x="6172200" y="3721608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30x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6172200" y="409651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 in Resolution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274320" y="4663440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Resolution times range from 46 to 1,363 min — 30x variance undermines predictability and customer trust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BH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SATISFACTION SCORE BY ISSUE TYPE</a:t>
            </a:r>
            <a:endParaRPr lang="en-US" sz="2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74320" y="777240"/>
          <a:ext cx="502920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577840" y="822960"/>
            <a:ext cx="3291840" cy="685800"/>
          </a:xfrm>
          <a:prstGeom prst="rect">
            <a:avLst/>
          </a:prstGeom>
          <a:solidFill>
            <a:srgbClr val="F0FDF4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BH"/>
          </a:p>
        </p:txBody>
      </p:sp>
      <p:sp>
        <p:nvSpPr>
          <p:cNvPr id="6" name="Shape 3"/>
          <p:cNvSpPr/>
          <p:nvPr/>
        </p:nvSpPr>
        <p:spPr>
          <a:xfrm>
            <a:off x="5577840" y="822960"/>
            <a:ext cx="54864" cy="6858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BH"/>
          </a:p>
        </p:txBody>
      </p:sp>
      <p:sp>
        <p:nvSpPr>
          <p:cNvPr id="7" name="Text 4"/>
          <p:cNvSpPr/>
          <p:nvPr/>
        </p:nvSpPr>
        <p:spPr>
          <a:xfrm>
            <a:off x="5715000" y="841248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Issue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7315200" y="841248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Score: 4.33/5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715000" y="1170432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resolution; customers feel heard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5577840" y="1627632"/>
            <a:ext cx="3291840" cy="685800"/>
          </a:xfrm>
          <a:prstGeom prst="rect">
            <a:avLst/>
          </a:prstGeom>
          <a:solidFill>
            <a:srgbClr val="F0FDFA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BH"/>
          </a:p>
        </p:txBody>
      </p:sp>
      <p:sp>
        <p:nvSpPr>
          <p:cNvPr id="11" name="Shape 8"/>
          <p:cNvSpPr/>
          <p:nvPr/>
        </p:nvSpPr>
        <p:spPr>
          <a:xfrm>
            <a:off x="5577840" y="1627632"/>
            <a:ext cx="54864" cy="685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BH"/>
          </a:p>
        </p:txBody>
      </p:sp>
      <p:sp>
        <p:nvSpPr>
          <p:cNvPr id="12" name="Text 9"/>
          <p:cNvSpPr/>
          <p:nvPr/>
        </p:nvSpPr>
        <p:spPr>
          <a:xfrm>
            <a:off x="5715000" y="16459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Issue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7315200" y="164592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Score: 3.80/5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5715000" y="1975104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Technical, but well-handled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5577840" y="2432304"/>
            <a:ext cx="3291840" cy="685800"/>
          </a:xfrm>
          <a:prstGeom prst="rect">
            <a:avLst/>
          </a:prstGeom>
          <a:solidFill>
            <a:srgbClr val="F0F9FF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BH"/>
          </a:p>
        </p:txBody>
      </p:sp>
      <p:sp>
        <p:nvSpPr>
          <p:cNvPr id="16" name="Shape 13"/>
          <p:cNvSpPr/>
          <p:nvPr/>
        </p:nvSpPr>
        <p:spPr>
          <a:xfrm>
            <a:off x="5577840" y="2432304"/>
            <a:ext cx="54864" cy="6858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BH"/>
          </a:p>
        </p:txBody>
      </p:sp>
      <p:sp>
        <p:nvSpPr>
          <p:cNvPr id="17" name="Text 14"/>
          <p:cNvSpPr/>
          <p:nvPr/>
        </p:nvSpPr>
        <p:spPr>
          <a:xfrm>
            <a:off x="5715000" y="2450592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Bug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7315200" y="245059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Score: 3.67/5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5715000" y="2779776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resolution rate (66.7%)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5577840" y="3236976"/>
            <a:ext cx="3291840" cy="685800"/>
          </a:xfrm>
          <a:prstGeom prst="rect">
            <a:avLst/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BH"/>
          </a:p>
        </p:txBody>
      </p:sp>
      <p:sp>
        <p:nvSpPr>
          <p:cNvPr id="21" name="Shape 18"/>
          <p:cNvSpPr/>
          <p:nvPr/>
        </p:nvSpPr>
        <p:spPr>
          <a:xfrm>
            <a:off x="5577840" y="3236976"/>
            <a:ext cx="54864" cy="6858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BH"/>
          </a:p>
        </p:txBody>
      </p:sp>
      <p:sp>
        <p:nvSpPr>
          <p:cNvPr id="22" name="Text 19"/>
          <p:cNvSpPr/>
          <p:nvPr/>
        </p:nvSpPr>
        <p:spPr>
          <a:xfrm>
            <a:off x="5715000" y="3255264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Gen.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7315200" y="3255264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Score: 2.00/5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5715000" y="358444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20% resolved — systemic issue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5577840" y="4041648"/>
            <a:ext cx="3291840" cy="685800"/>
          </a:xfrm>
          <a:prstGeom prst="rect">
            <a:avLst/>
          </a:prstGeom>
          <a:solidFill>
            <a:srgbClr val="FFF5F5"/>
          </a:solidFill>
          <a:ln w="12700">
            <a:solidFill>
              <a:srgbClr val="F05252"/>
            </a:solidFill>
            <a:prstDash val="solid"/>
          </a:ln>
        </p:spPr>
        <p:txBody>
          <a:bodyPr/>
          <a:lstStyle/>
          <a:p>
            <a:endParaRPr lang="en-BH"/>
          </a:p>
        </p:txBody>
      </p:sp>
      <p:sp>
        <p:nvSpPr>
          <p:cNvPr id="26" name="Shape 23"/>
          <p:cNvSpPr/>
          <p:nvPr/>
        </p:nvSpPr>
        <p:spPr>
          <a:xfrm>
            <a:off x="5577840" y="4041648"/>
            <a:ext cx="54864" cy="685800"/>
          </a:xfrm>
          <a:prstGeom prst="rect">
            <a:avLst/>
          </a:prstGeom>
          <a:solidFill>
            <a:srgbClr val="F05252"/>
          </a:solidFill>
          <a:ln w="12700">
            <a:solidFill>
              <a:srgbClr val="F05252"/>
            </a:solidFill>
            <a:prstDash val="solid"/>
          </a:ln>
        </p:spPr>
        <p:txBody>
          <a:bodyPr/>
          <a:lstStyle/>
          <a:p>
            <a:endParaRPr lang="en-BH"/>
          </a:p>
        </p:txBody>
      </p:sp>
      <p:sp>
        <p:nvSpPr>
          <p:cNvPr id="27" name="Text 24"/>
          <p:cNvSpPr/>
          <p:nvPr/>
        </p:nvSpPr>
        <p:spPr>
          <a:xfrm>
            <a:off x="5715000" y="4059936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Issue</a:t>
            </a:r>
            <a:endParaRPr lang="en-US" sz="1150" dirty="0"/>
          </a:p>
        </p:txBody>
      </p:sp>
      <p:sp>
        <p:nvSpPr>
          <p:cNvPr id="28" name="Text 25"/>
          <p:cNvSpPr/>
          <p:nvPr/>
        </p:nvSpPr>
        <p:spPr>
          <a:xfrm>
            <a:off x="7315200" y="4059936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Score: 2.27/5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5715000" y="438912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volume + low resolution = friction</a:t>
            </a:r>
            <a:endParaRPr lang="en-US" sz="950" dirty="0"/>
          </a:p>
        </p:txBody>
      </p:sp>
      <p:sp>
        <p:nvSpPr>
          <p:cNvPr id="30" name="Text 27"/>
          <p:cNvSpPr/>
          <p:nvPr/>
        </p:nvSpPr>
        <p:spPr>
          <a:xfrm>
            <a:off x="5577840" y="4846320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Avg: 2.82 / 5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F05252"/>
          </a:solidFill>
          <a:ln w="12700">
            <a:solidFill>
              <a:srgbClr val="F05252"/>
            </a:solidFill>
            <a:prstDash val="solid"/>
          </a:ln>
        </p:spPr>
        <p:txBody>
          <a:bodyPr/>
          <a:lstStyle/>
          <a:p>
            <a:endParaRPr lang="en-BH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 &amp; ACTIONABLE RECOMMENDATIONS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28600" y="822960"/>
            <a:ext cx="4297680" cy="914400"/>
          </a:xfrm>
          <a:prstGeom prst="rect">
            <a:avLst/>
          </a:prstGeom>
          <a:solidFill>
            <a:srgbClr val="243461"/>
          </a:solidFill>
          <a:ln w="1905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BH"/>
          </a:p>
        </p:txBody>
      </p:sp>
      <p:sp>
        <p:nvSpPr>
          <p:cNvPr id="5" name="Shape 3"/>
          <p:cNvSpPr/>
          <p:nvPr/>
        </p:nvSpPr>
        <p:spPr>
          <a:xfrm>
            <a:off x="228600" y="822960"/>
            <a:ext cx="64008" cy="9144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BH"/>
          </a:p>
        </p:txBody>
      </p:sp>
      <p:sp>
        <p:nvSpPr>
          <p:cNvPr id="6" name="Text 4"/>
          <p:cNvSpPr/>
          <p:nvPr/>
        </p:nvSpPr>
        <p:spPr>
          <a:xfrm>
            <a:off x="365760" y="859536"/>
            <a:ext cx="4114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F-01  Critical SLA Inversion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65760" y="1170432"/>
            <a:ext cx="4069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Implement hard SLA caps: Critical ≤30 min, High ≤60 min, Medium ≤120 min. Add automated escalation alerts.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28600" y="1892808"/>
            <a:ext cx="4297680" cy="914400"/>
          </a:xfrm>
          <a:prstGeom prst="rect">
            <a:avLst/>
          </a:prstGeom>
          <a:solidFill>
            <a:srgbClr val="243461"/>
          </a:solidFill>
          <a:ln w="19050">
            <a:solidFill>
              <a:srgbClr val="F05252"/>
            </a:solidFill>
            <a:prstDash val="solid"/>
          </a:ln>
        </p:spPr>
        <p:txBody>
          <a:bodyPr/>
          <a:lstStyle/>
          <a:p>
            <a:endParaRPr lang="en-BH"/>
          </a:p>
        </p:txBody>
      </p:sp>
      <p:sp>
        <p:nvSpPr>
          <p:cNvPr id="9" name="Shape 7"/>
          <p:cNvSpPr/>
          <p:nvPr/>
        </p:nvSpPr>
        <p:spPr>
          <a:xfrm>
            <a:off x="228600" y="1892808"/>
            <a:ext cx="64008" cy="914400"/>
          </a:xfrm>
          <a:prstGeom prst="rect">
            <a:avLst/>
          </a:prstGeom>
          <a:solidFill>
            <a:srgbClr val="F05252"/>
          </a:solidFill>
          <a:ln w="12700">
            <a:solidFill>
              <a:srgbClr val="F05252"/>
            </a:solidFill>
            <a:prstDash val="solid"/>
          </a:ln>
        </p:spPr>
        <p:txBody>
          <a:bodyPr/>
          <a:lstStyle/>
          <a:p>
            <a:endParaRPr lang="en-BH"/>
          </a:p>
        </p:txBody>
      </p:sp>
      <p:sp>
        <p:nvSpPr>
          <p:cNvPr id="10" name="Text 8"/>
          <p:cNvSpPr/>
          <p:nvPr/>
        </p:nvSpPr>
        <p:spPr>
          <a:xfrm>
            <a:off x="365760" y="1929384"/>
            <a:ext cx="4114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F-02  High Unresolved Rate (54%)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65760" y="2240280"/>
            <a:ext cx="4069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Dedicate Agent A002 (best resolution 66.7%) to clear backlog. Set weekly resolution targets per category.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28600" y="2962656"/>
            <a:ext cx="4297680" cy="914400"/>
          </a:xfrm>
          <a:prstGeom prst="rect">
            <a:avLst/>
          </a:prstGeom>
          <a:solidFill>
            <a:srgbClr val="243461"/>
          </a:solidFill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BH"/>
          </a:p>
        </p:txBody>
      </p:sp>
      <p:sp>
        <p:nvSpPr>
          <p:cNvPr id="13" name="Shape 11"/>
          <p:cNvSpPr/>
          <p:nvPr/>
        </p:nvSpPr>
        <p:spPr>
          <a:xfrm>
            <a:off x="228600" y="2962656"/>
            <a:ext cx="64008" cy="9144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BH"/>
          </a:p>
        </p:txBody>
      </p:sp>
      <p:sp>
        <p:nvSpPr>
          <p:cNvPr id="14" name="Text 12"/>
          <p:cNvSpPr/>
          <p:nvPr/>
        </p:nvSpPr>
        <p:spPr>
          <a:xfrm>
            <a:off x="365760" y="2999232"/>
            <a:ext cx="4114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F-03  Low Satisfaction (2.82/5)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65760" y="3310128"/>
            <a:ext cx="4069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Create specialized playbooks for Billing &amp; Data Import. Introduce proactive follow-up post-resolution.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28600" y="4032504"/>
            <a:ext cx="4297680" cy="914400"/>
          </a:xfrm>
          <a:prstGeom prst="rect">
            <a:avLst/>
          </a:prstGeom>
          <a:solidFill>
            <a:srgbClr val="243461"/>
          </a:solidFill>
          <a:ln w="1905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BH"/>
          </a:p>
        </p:txBody>
      </p:sp>
      <p:sp>
        <p:nvSpPr>
          <p:cNvPr id="17" name="Shape 15"/>
          <p:cNvSpPr/>
          <p:nvPr/>
        </p:nvSpPr>
        <p:spPr>
          <a:xfrm>
            <a:off x="228600" y="4032504"/>
            <a:ext cx="64008" cy="9144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BH"/>
          </a:p>
        </p:txBody>
      </p:sp>
      <p:sp>
        <p:nvSpPr>
          <p:cNvPr id="18" name="Text 16"/>
          <p:cNvSpPr/>
          <p:nvPr/>
        </p:nvSpPr>
        <p:spPr>
          <a:xfrm>
            <a:off x="365760" y="4069080"/>
            <a:ext cx="4114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F-04  Agent A004 Overloaded (36%)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365760" y="4379976"/>
            <a:ext cx="4069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Rebalance ticket assignment. Cap A004 at ~12 tickets. Route new tickets to A003/A002.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709160" y="822960"/>
            <a:ext cx="4297680" cy="914400"/>
          </a:xfrm>
          <a:prstGeom prst="rect">
            <a:avLst/>
          </a:prstGeom>
          <a:solidFill>
            <a:srgbClr val="243461"/>
          </a:solidFill>
          <a:ln w="1905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BH"/>
          </a:p>
        </p:txBody>
      </p:sp>
      <p:sp>
        <p:nvSpPr>
          <p:cNvPr id="21" name="Shape 19"/>
          <p:cNvSpPr/>
          <p:nvPr/>
        </p:nvSpPr>
        <p:spPr>
          <a:xfrm>
            <a:off x="4709160" y="822960"/>
            <a:ext cx="64008" cy="9144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BH"/>
          </a:p>
        </p:txBody>
      </p:sp>
      <p:sp>
        <p:nvSpPr>
          <p:cNvPr id="22" name="Text 20"/>
          <p:cNvSpPr/>
          <p:nvPr/>
        </p:nvSpPr>
        <p:spPr>
          <a:xfrm>
            <a:off x="4846320" y="859536"/>
            <a:ext cx="4114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F-05  Agent A001 Satisfaction Deficit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846320" y="1170432"/>
            <a:ext cx="4069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Review ticket transcripts for patterns. Implement targeted coaching; pair with A003 for mentorship.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709160" y="1892808"/>
            <a:ext cx="4297680" cy="914400"/>
          </a:xfrm>
          <a:prstGeom prst="rect">
            <a:avLst/>
          </a:prstGeom>
          <a:solidFill>
            <a:srgbClr val="243461"/>
          </a:solidFill>
          <a:ln w="1905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BH"/>
          </a:p>
        </p:txBody>
      </p:sp>
      <p:sp>
        <p:nvSpPr>
          <p:cNvPr id="25" name="Shape 23"/>
          <p:cNvSpPr/>
          <p:nvPr/>
        </p:nvSpPr>
        <p:spPr>
          <a:xfrm>
            <a:off x="4709160" y="1892808"/>
            <a:ext cx="64008" cy="9144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BH"/>
          </a:p>
        </p:txBody>
      </p:sp>
      <p:sp>
        <p:nvSpPr>
          <p:cNvPr id="26" name="Text 24"/>
          <p:cNvSpPr/>
          <p:nvPr/>
        </p:nvSpPr>
        <p:spPr>
          <a:xfrm>
            <a:off x="4846320" y="1929384"/>
            <a:ext cx="4114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F-06  Report Generation (20% resolved)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846320" y="2240280"/>
            <a:ext cx="4069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Escalate to product team as systemic bug. Audit all 4 open tickets. Set 48-hr SLA for this category.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709160" y="2962656"/>
            <a:ext cx="4297680" cy="914400"/>
          </a:xfrm>
          <a:prstGeom prst="rect">
            <a:avLst/>
          </a:prstGeom>
          <a:solidFill>
            <a:srgbClr val="243461"/>
          </a:solidFill>
          <a:ln w="1905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BH"/>
          </a:p>
        </p:txBody>
      </p:sp>
      <p:sp>
        <p:nvSpPr>
          <p:cNvPr id="29" name="Shape 27"/>
          <p:cNvSpPr/>
          <p:nvPr/>
        </p:nvSpPr>
        <p:spPr>
          <a:xfrm>
            <a:off x="4709160" y="2962656"/>
            <a:ext cx="64008" cy="9144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BH"/>
          </a:p>
        </p:txBody>
      </p:sp>
      <p:sp>
        <p:nvSpPr>
          <p:cNvPr id="30" name="Text 28"/>
          <p:cNvSpPr/>
          <p:nvPr/>
        </p:nvSpPr>
        <p:spPr>
          <a:xfrm>
            <a:off x="4846320" y="2999232"/>
            <a:ext cx="4114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F-07  30x Resolution Time Variance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4846320" y="3310128"/>
            <a:ext cx="4069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Define max resolution SLAs per category. Flag any ticket exceeding 2× category average automatically.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BH"/>
          </a:p>
        </p:txBody>
      </p:sp>
      <p:sp>
        <p:nvSpPr>
          <p:cNvPr id="3" name="Shape 1"/>
          <p:cNvSpPr/>
          <p:nvPr/>
        </p:nvSpPr>
        <p:spPr>
          <a:xfrm>
            <a:off x="6858000" y="3200400"/>
            <a:ext cx="3200400" cy="3200400"/>
          </a:xfrm>
          <a:prstGeom prst="ellipse">
            <a:avLst/>
          </a:prstGeom>
          <a:solidFill>
            <a:srgbClr val="243461"/>
          </a:solidFill>
          <a:ln w="190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BH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 &amp;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150876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640080" y="2478024"/>
            <a:ext cx="347472" cy="347472"/>
          </a:xfrm>
          <a:prstGeom prst="ellipse">
            <a:avLst/>
          </a:prstGeom>
          <a:solidFill>
            <a:srgbClr val="F05252"/>
          </a:solidFill>
          <a:ln w="12700">
            <a:solidFill>
              <a:srgbClr val="F05252"/>
            </a:solidFill>
            <a:prstDash val="solid"/>
          </a:ln>
        </p:spPr>
        <p:txBody>
          <a:bodyPr/>
          <a:lstStyle/>
          <a:p>
            <a:endParaRPr lang="en-BH"/>
          </a:p>
        </p:txBody>
      </p:sp>
      <p:sp>
        <p:nvSpPr>
          <p:cNvPr id="7" name="Text 5"/>
          <p:cNvSpPr/>
          <p:nvPr/>
        </p:nvSpPr>
        <p:spPr>
          <a:xfrm>
            <a:off x="640080" y="247802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15568" y="2468880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SLA caps with automated alerts (Critical ≤30 min)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2980944"/>
            <a:ext cx="347472" cy="3474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BH"/>
          </a:p>
        </p:txBody>
      </p:sp>
      <p:sp>
        <p:nvSpPr>
          <p:cNvPr id="10" name="Text 8"/>
          <p:cNvSpPr/>
          <p:nvPr/>
        </p:nvSpPr>
        <p:spPr>
          <a:xfrm>
            <a:off x="640080" y="298094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15568" y="2971800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Rebalance agent workload — reduce A004 load, strengthen A003/A002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3483864"/>
            <a:ext cx="347472" cy="34747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BH"/>
          </a:p>
        </p:txBody>
      </p:sp>
      <p:sp>
        <p:nvSpPr>
          <p:cNvPr id="13" name="Text 11"/>
          <p:cNvSpPr/>
          <p:nvPr/>
        </p:nvSpPr>
        <p:spPr>
          <a:xfrm>
            <a:off x="640080" y="348386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115568" y="3474720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Billing &amp; Data Import specialized resolution playbooks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3986784"/>
            <a:ext cx="347472" cy="347472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BH"/>
          </a:p>
        </p:txBody>
      </p:sp>
      <p:sp>
        <p:nvSpPr>
          <p:cNvPr id="16" name="Text 14"/>
          <p:cNvSpPr/>
          <p:nvPr/>
        </p:nvSpPr>
        <p:spPr>
          <a:xfrm>
            <a:off x="640080" y="398678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15568" y="3977640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 Report Generation to product team as systemic issue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0080" y="4489704"/>
            <a:ext cx="347472" cy="34747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BH"/>
          </a:p>
        </p:txBody>
      </p:sp>
      <p:sp>
        <p:nvSpPr>
          <p:cNvPr id="19" name="Text 17"/>
          <p:cNvSpPr/>
          <p:nvPr/>
        </p:nvSpPr>
        <p:spPr>
          <a:xfrm>
            <a:off x="640080" y="448970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15568" y="4480560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 coaching program for A001; target satisfaction ≥ 3.0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0080" y="480060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period: Jan–Jul 2023  |  Source: support_tickets_data.xlsx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823</Words>
  <Application>Microsoft Macintosh PowerPoint</Application>
  <PresentationFormat>On-screen Show (16:9)</PresentationFormat>
  <Paragraphs>190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Support Tickets Data Analysis Report</dc:title>
  <dc:subject>PptxGenJS Presentation</dc:subject>
  <dc:creator>PptxGenJS</dc:creator>
  <cp:lastModifiedBy>MD.MEHRAN ABUL</cp:lastModifiedBy>
  <cp:revision>1</cp:revision>
  <dcterms:created xsi:type="dcterms:W3CDTF">2026-06-06T18:48:24Z</dcterms:created>
  <dcterms:modified xsi:type="dcterms:W3CDTF">2026-06-06T18:57:12Z</dcterms:modified>
</cp:coreProperties>
</file>